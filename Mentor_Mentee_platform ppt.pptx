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ITC Avant Garde Gothic" charset="1" panose="020B0502020202020204"/>
      <p:regular r:id="rId11"/>
    </p:embeddedFont>
    <p:embeddedFont>
      <p:font typeface="ITC Avant Garde Gothic Bold" charset="1" panose="020B0802020202020204"/>
      <p:regular r:id="rId12"/>
    </p:embeddedFont>
    <p:embeddedFont>
      <p:font typeface="Canva Sans" charset="1" panose="020B0503030501040103"/>
      <p:regular r:id="rId13"/>
    </p:embeddedFont>
    <p:embeddedFont>
      <p:font typeface="Canva Sans Bold" charset="1" panose="020B0803030501040103"/>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E6FF"/>
        </a:solidFill>
      </p:bgPr>
    </p:bg>
    <p:spTree>
      <p:nvGrpSpPr>
        <p:cNvPr id="1" name=""/>
        <p:cNvGrpSpPr/>
        <p:nvPr/>
      </p:nvGrpSpPr>
      <p:grpSpPr>
        <a:xfrm>
          <a:off x="0" y="0"/>
          <a:ext cx="0" cy="0"/>
          <a:chOff x="0" y="0"/>
          <a:chExt cx="0" cy="0"/>
        </a:xfrm>
      </p:grpSpPr>
      <p:sp>
        <p:nvSpPr>
          <p:cNvPr name="Freeform 2" id="2"/>
          <p:cNvSpPr/>
          <p:nvPr/>
        </p:nvSpPr>
        <p:spPr>
          <a:xfrm flipH="false" flipV="false" rot="0">
            <a:off x="0" y="-22337"/>
            <a:ext cx="5998829" cy="5998829"/>
          </a:xfrm>
          <a:custGeom>
            <a:avLst/>
            <a:gdLst/>
            <a:ahLst/>
            <a:cxnLst/>
            <a:rect r="r" b="b" t="t" l="l"/>
            <a:pathLst>
              <a:path h="5998829" w="5998829">
                <a:moveTo>
                  <a:pt x="0" y="0"/>
                </a:moveTo>
                <a:lnTo>
                  <a:pt x="5998829" y="0"/>
                </a:lnTo>
                <a:lnTo>
                  <a:pt x="5998829" y="5998829"/>
                </a:lnTo>
                <a:lnTo>
                  <a:pt x="0" y="59988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31923" y="1033692"/>
            <a:ext cx="3073400" cy="3073400"/>
          </a:xfrm>
          <a:custGeom>
            <a:avLst/>
            <a:gdLst/>
            <a:ahLst/>
            <a:cxnLst/>
            <a:rect r="r" b="b" t="t" l="l"/>
            <a:pathLst>
              <a:path h="3073400" w="3073400">
                <a:moveTo>
                  <a:pt x="0" y="0"/>
                </a:moveTo>
                <a:lnTo>
                  <a:pt x="3073400" y="0"/>
                </a:lnTo>
                <a:lnTo>
                  <a:pt x="3073400" y="3073400"/>
                </a:lnTo>
                <a:lnTo>
                  <a:pt x="0" y="3073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0">
            <a:off x="12289171" y="4288171"/>
            <a:ext cx="5998829" cy="5998829"/>
          </a:xfrm>
          <a:custGeom>
            <a:avLst/>
            <a:gdLst/>
            <a:ahLst/>
            <a:cxnLst/>
            <a:rect r="r" b="b" t="t" l="l"/>
            <a:pathLst>
              <a:path h="5998829" w="5998829">
                <a:moveTo>
                  <a:pt x="5998829" y="5998829"/>
                </a:moveTo>
                <a:lnTo>
                  <a:pt x="0" y="5998829"/>
                </a:lnTo>
                <a:lnTo>
                  <a:pt x="0" y="0"/>
                </a:lnTo>
                <a:lnTo>
                  <a:pt x="5998829" y="0"/>
                </a:lnTo>
                <a:lnTo>
                  <a:pt x="5998829" y="59988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5400000">
            <a:off x="14185900" y="6184900"/>
            <a:ext cx="3073400" cy="3073400"/>
          </a:xfrm>
          <a:custGeom>
            <a:avLst/>
            <a:gdLst/>
            <a:ahLst/>
            <a:cxnLst/>
            <a:rect r="r" b="b" t="t" l="l"/>
            <a:pathLst>
              <a:path h="3073400" w="3073400">
                <a:moveTo>
                  <a:pt x="3073400" y="3073400"/>
                </a:moveTo>
                <a:lnTo>
                  <a:pt x="0" y="3073400"/>
                </a:lnTo>
                <a:lnTo>
                  <a:pt x="0" y="0"/>
                </a:lnTo>
                <a:lnTo>
                  <a:pt x="3073400" y="0"/>
                </a:lnTo>
                <a:lnTo>
                  <a:pt x="3073400" y="30734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082238" y="-22337"/>
            <a:ext cx="2205762" cy="2205762"/>
          </a:xfrm>
          <a:custGeom>
            <a:avLst/>
            <a:gdLst/>
            <a:ahLst/>
            <a:cxnLst/>
            <a:rect r="r" b="b" t="t" l="l"/>
            <a:pathLst>
              <a:path h="2205762" w="2205762">
                <a:moveTo>
                  <a:pt x="0" y="0"/>
                </a:moveTo>
                <a:lnTo>
                  <a:pt x="2205762" y="0"/>
                </a:lnTo>
                <a:lnTo>
                  <a:pt x="2205762" y="2205762"/>
                </a:lnTo>
                <a:lnTo>
                  <a:pt x="0" y="22057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6583261" y="6422938"/>
            <a:ext cx="5121478" cy="706121"/>
          </a:xfrm>
          <a:prstGeom prst="rect">
            <a:avLst/>
          </a:prstGeom>
        </p:spPr>
        <p:txBody>
          <a:bodyPr anchor="t" rtlCol="false" tIns="0" lIns="0" bIns="0" rIns="0">
            <a:spAutoFit/>
          </a:bodyPr>
          <a:lstStyle/>
          <a:p>
            <a:pPr algn="ctr">
              <a:lnSpc>
                <a:spcPts val="5179"/>
              </a:lnSpc>
            </a:pPr>
            <a:r>
              <a:rPr lang="en-US" sz="3699">
                <a:solidFill>
                  <a:srgbClr val="000000"/>
                </a:solidFill>
                <a:latin typeface="ITC Avant Garde Gothic"/>
                <a:ea typeface="ITC Avant Garde Gothic"/>
                <a:cs typeface="ITC Avant Garde Gothic"/>
                <a:sym typeface="ITC Avant Garde Gothic"/>
              </a:rPr>
              <a:t>IILM </a:t>
            </a:r>
            <a:r>
              <a:rPr lang="en-US" sz="3699">
                <a:solidFill>
                  <a:srgbClr val="000000"/>
                </a:solidFill>
                <a:latin typeface="ITC Avant Garde Gothic"/>
                <a:ea typeface="ITC Avant Garde Gothic"/>
                <a:cs typeface="ITC Avant Garde Gothic"/>
                <a:sym typeface="ITC Avant Garde Gothic"/>
              </a:rPr>
              <a:t>University</a:t>
            </a:r>
          </a:p>
        </p:txBody>
      </p:sp>
      <p:sp>
        <p:nvSpPr>
          <p:cNvPr name="Freeform 8" id="8"/>
          <p:cNvSpPr/>
          <p:nvPr/>
        </p:nvSpPr>
        <p:spPr>
          <a:xfrm flipH="false" flipV="false" rot="0">
            <a:off x="0" y="8081238"/>
            <a:ext cx="2205762" cy="2205762"/>
          </a:xfrm>
          <a:custGeom>
            <a:avLst/>
            <a:gdLst/>
            <a:ahLst/>
            <a:cxnLst/>
            <a:rect r="r" b="b" t="t" l="l"/>
            <a:pathLst>
              <a:path h="2205762" w="2205762">
                <a:moveTo>
                  <a:pt x="0" y="0"/>
                </a:moveTo>
                <a:lnTo>
                  <a:pt x="2205762" y="0"/>
                </a:lnTo>
                <a:lnTo>
                  <a:pt x="2205762" y="2205762"/>
                </a:lnTo>
                <a:lnTo>
                  <a:pt x="0" y="22057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5639860" y="2389738"/>
            <a:ext cx="7681079" cy="974654"/>
          </a:xfrm>
          <a:prstGeom prst="rect">
            <a:avLst/>
          </a:prstGeom>
        </p:spPr>
        <p:txBody>
          <a:bodyPr anchor="t" rtlCol="false" tIns="0" lIns="0" bIns="0" rIns="0">
            <a:spAutoFit/>
          </a:bodyPr>
          <a:lstStyle/>
          <a:p>
            <a:pPr algn="ctr">
              <a:lnSpc>
                <a:spcPts val="7178"/>
              </a:lnSpc>
              <a:spcBef>
                <a:spcPct val="0"/>
              </a:spcBef>
            </a:pPr>
            <a:r>
              <a:rPr lang="en-US" b="true" sz="5127">
                <a:solidFill>
                  <a:srgbClr val="000000"/>
                </a:solidFill>
                <a:latin typeface="ITC Avant Garde Gothic Bold"/>
                <a:ea typeface="ITC Avant Garde Gothic Bold"/>
                <a:cs typeface="ITC Avant Garde Gothic Bold"/>
                <a:sym typeface="ITC Avant Garde Gothic Bold"/>
              </a:rPr>
              <a:t>TEAM NAME: WIDE JOY </a:t>
            </a:r>
          </a:p>
        </p:txBody>
      </p:sp>
      <p:sp>
        <p:nvSpPr>
          <p:cNvPr name="TextBox 10" id="10"/>
          <p:cNvSpPr txBox="true"/>
          <p:nvPr/>
        </p:nvSpPr>
        <p:spPr>
          <a:xfrm rot="0">
            <a:off x="3082826" y="7457668"/>
            <a:ext cx="12122348" cy="1180465"/>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Team members: Kshitij mishra, Parivesh singh, Vanunjai, Dev shankar yadav</a:t>
            </a:r>
          </a:p>
        </p:txBody>
      </p:sp>
      <p:sp>
        <p:nvSpPr>
          <p:cNvPr name="TextBox 11" id="11"/>
          <p:cNvSpPr txBox="true"/>
          <p:nvPr/>
        </p:nvSpPr>
        <p:spPr>
          <a:xfrm rot="0">
            <a:off x="3082826" y="4011842"/>
            <a:ext cx="12122348" cy="1811020"/>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Mentor–Mentee</a:t>
            </a:r>
            <a:r>
              <a:rPr lang="en-US" b="true" sz="5199">
                <a:solidFill>
                  <a:srgbClr val="000000"/>
                </a:solidFill>
                <a:latin typeface="Canva Sans Bold"/>
                <a:ea typeface="Canva Sans Bold"/>
                <a:cs typeface="Canva Sans Bold"/>
                <a:sym typeface="Canva Sans Bold"/>
              </a:rPr>
              <a:t> Connection Platform</a:t>
            </a:r>
          </a:p>
          <a:p>
            <a:pPr algn="ctr">
              <a:lnSpc>
                <a:spcPts val="7279"/>
              </a:lnSpc>
            </a:pPr>
            <a:r>
              <a:rPr lang="en-US" b="true" sz="5199">
                <a:solidFill>
                  <a:srgbClr val="000000"/>
                </a:solidFill>
                <a:latin typeface="Canva Sans Bold"/>
                <a:ea typeface="Canva Sans Bold"/>
                <a:cs typeface="Canva Sans Bold"/>
                <a:sym typeface="Canva Sans Bold"/>
              </a:rPr>
              <a:t>Hackathon Proposal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E6FF"/>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9050" y="8248650"/>
            <a:ext cx="2019300" cy="2019300"/>
          </a:xfrm>
          <a:custGeom>
            <a:avLst/>
            <a:gdLst/>
            <a:ahLst/>
            <a:cxnLst/>
            <a:rect r="r" b="b" t="t" l="l"/>
            <a:pathLst>
              <a:path h="2019300" w="2019300">
                <a:moveTo>
                  <a:pt x="2019300" y="0"/>
                </a:moveTo>
                <a:lnTo>
                  <a:pt x="0" y="0"/>
                </a:lnTo>
                <a:lnTo>
                  <a:pt x="0" y="2019300"/>
                </a:lnTo>
                <a:lnTo>
                  <a:pt x="2019300" y="2019300"/>
                </a:lnTo>
                <a:lnTo>
                  <a:pt x="20193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6249650" y="0"/>
            <a:ext cx="2019300" cy="2019300"/>
          </a:xfrm>
          <a:custGeom>
            <a:avLst/>
            <a:gdLst/>
            <a:ahLst/>
            <a:cxnLst/>
            <a:rect r="r" b="b" t="t" l="l"/>
            <a:pathLst>
              <a:path h="2019300" w="2019300">
                <a:moveTo>
                  <a:pt x="2019300" y="2019300"/>
                </a:moveTo>
                <a:lnTo>
                  <a:pt x="0" y="2019300"/>
                </a:lnTo>
                <a:lnTo>
                  <a:pt x="0" y="0"/>
                </a:lnTo>
                <a:lnTo>
                  <a:pt x="2019300" y="0"/>
                </a:lnTo>
                <a:lnTo>
                  <a:pt x="2019300" y="2019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9050" y="365463"/>
            <a:ext cx="2037880" cy="663237"/>
          </a:xfrm>
          <a:custGeom>
            <a:avLst/>
            <a:gdLst/>
            <a:ahLst/>
            <a:cxnLst/>
            <a:rect r="r" b="b" t="t" l="l"/>
            <a:pathLst>
              <a:path h="663237" w="2037880">
                <a:moveTo>
                  <a:pt x="0" y="0"/>
                </a:moveTo>
                <a:lnTo>
                  <a:pt x="2037880" y="0"/>
                </a:lnTo>
                <a:lnTo>
                  <a:pt x="2037880" y="663237"/>
                </a:lnTo>
                <a:lnTo>
                  <a:pt x="0" y="6632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744442" y="9258300"/>
            <a:ext cx="2543558" cy="827812"/>
          </a:xfrm>
          <a:custGeom>
            <a:avLst/>
            <a:gdLst/>
            <a:ahLst/>
            <a:cxnLst/>
            <a:rect r="r" b="b" t="t" l="l"/>
            <a:pathLst>
              <a:path h="827812" w="2543558">
                <a:moveTo>
                  <a:pt x="0" y="0"/>
                </a:moveTo>
                <a:lnTo>
                  <a:pt x="2543558" y="0"/>
                </a:lnTo>
                <a:lnTo>
                  <a:pt x="2543558" y="827812"/>
                </a:lnTo>
                <a:lnTo>
                  <a:pt x="0" y="827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829881" y="537353"/>
            <a:ext cx="15186340" cy="722630"/>
          </a:xfrm>
          <a:prstGeom prst="rect">
            <a:avLst/>
          </a:prstGeom>
        </p:spPr>
        <p:txBody>
          <a:bodyPr anchor="t" rtlCol="false" tIns="0" lIns="0" bIns="0" rIns="0">
            <a:spAutoFit/>
          </a:bodyPr>
          <a:lstStyle/>
          <a:p>
            <a:pPr algn="ctr">
              <a:lnSpc>
                <a:spcPts val="5320"/>
              </a:lnSpc>
            </a:pPr>
            <a:r>
              <a:rPr lang="en-US" b="true" sz="3800">
                <a:solidFill>
                  <a:srgbClr val="000000"/>
                </a:solidFill>
                <a:latin typeface="ITC Avant Garde Gothic Bold"/>
                <a:ea typeface="ITC Avant Garde Gothic Bold"/>
                <a:cs typeface="ITC Avant Garde Gothic Bold"/>
                <a:sym typeface="ITC Avant Garde Gothic Bold"/>
              </a:rPr>
              <a:t> P</a:t>
            </a:r>
            <a:r>
              <a:rPr lang="en-US" b="true" sz="3800">
                <a:solidFill>
                  <a:srgbClr val="000000"/>
                </a:solidFill>
                <a:latin typeface="ITC Avant Garde Gothic Bold"/>
                <a:ea typeface="ITC Avant Garde Gothic Bold"/>
                <a:cs typeface="ITC Avant Garde Gothic Bold"/>
                <a:sym typeface="ITC Avant Garde Gothic Bold"/>
              </a:rPr>
              <a:t>ROBLEM STATEMENT &amp; WHY THIS PLATFORM IS NEEDED</a:t>
            </a:r>
          </a:p>
        </p:txBody>
      </p:sp>
      <p:sp>
        <p:nvSpPr>
          <p:cNvPr name="TextBox 7" id="7"/>
          <p:cNvSpPr txBox="true"/>
          <p:nvPr/>
        </p:nvSpPr>
        <p:spPr>
          <a:xfrm rot="0">
            <a:off x="1037990" y="1636291"/>
            <a:ext cx="16230600" cy="7528560"/>
          </a:xfrm>
          <a:prstGeom prst="rect">
            <a:avLst/>
          </a:prstGeom>
        </p:spPr>
        <p:txBody>
          <a:bodyPr anchor="t" rtlCol="false" tIns="0" lIns="0" bIns="0" rIns="0">
            <a:spAutoFit/>
          </a:bodyPr>
          <a:lstStyle/>
          <a:p>
            <a:pPr algn="l">
              <a:lnSpc>
                <a:spcPts val="4059"/>
              </a:lnSpc>
            </a:pPr>
            <a:r>
              <a:rPr lang="en-US" sz="2899" b="true">
                <a:solidFill>
                  <a:srgbClr val="000000"/>
                </a:solidFill>
                <a:latin typeface="ITC Avant Garde Gothic Bold"/>
                <a:ea typeface="ITC Avant Garde Gothic Bold"/>
                <a:cs typeface="ITC Avant Garde Gothic Bold"/>
                <a:sym typeface="ITC Avant Garde Gothic Bold"/>
              </a:rPr>
              <a:t>Problems in Current Mentorship System</a:t>
            </a:r>
          </a:p>
          <a:p>
            <a:pPr algn="l" marL="604519" indent="-302260" lvl="1">
              <a:lnSpc>
                <a:spcPts val="3919"/>
              </a:lnSpc>
              <a:buFont typeface="Arial"/>
              <a:buChar char="•"/>
            </a:pPr>
            <a:r>
              <a:rPr lang="en-US" sz="2799">
                <a:solidFill>
                  <a:srgbClr val="000000"/>
                </a:solidFill>
                <a:latin typeface="ITC Avant Garde Gothic"/>
                <a:ea typeface="ITC Avant Garde Gothic"/>
                <a:cs typeface="ITC Avant Garde Gothic"/>
                <a:sym typeface="ITC Avant Garde Gothic"/>
              </a:rPr>
              <a:t>Students struggle to access timely academic and career guidance</a:t>
            </a:r>
          </a:p>
          <a:p>
            <a:pPr algn="l" marL="604519" indent="-302260" lvl="1">
              <a:lnSpc>
                <a:spcPts val="3919"/>
              </a:lnSpc>
              <a:buFont typeface="Arial"/>
              <a:buChar char="•"/>
            </a:pPr>
            <a:r>
              <a:rPr lang="en-US" sz="2799">
                <a:solidFill>
                  <a:srgbClr val="000000"/>
                </a:solidFill>
                <a:latin typeface="ITC Avant Garde Gothic"/>
                <a:ea typeface="ITC Avant Garde Gothic"/>
                <a:cs typeface="ITC Avant Garde Gothic"/>
                <a:sym typeface="ITC Avant Garde Gothic"/>
              </a:rPr>
              <a:t>Mentorship depends on informal personal networks</a:t>
            </a:r>
          </a:p>
          <a:p>
            <a:pPr algn="l" marL="604519" indent="-302260" lvl="1">
              <a:lnSpc>
                <a:spcPts val="3919"/>
              </a:lnSpc>
              <a:buFont typeface="Arial"/>
              <a:buChar char="•"/>
            </a:pPr>
            <a:r>
              <a:rPr lang="en-US" sz="2799">
                <a:solidFill>
                  <a:srgbClr val="000000"/>
                </a:solidFill>
                <a:latin typeface="ITC Avant Garde Gothic"/>
                <a:ea typeface="ITC Avant Garde Gothic"/>
                <a:cs typeface="ITC Avant Garde Gothic"/>
                <a:sym typeface="ITC Avant Garde Gothic"/>
              </a:rPr>
              <a:t>No centralized way to:</a:t>
            </a:r>
          </a:p>
          <a:p>
            <a:pPr algn="l" marL="604519" indent="-302260" lvl="1">
              <a:lnSpc>
                <a:spcPts val="3919"/>
              </a:lnSpc>
              <a:buFont typeface="Arial"/>
              <a:buChar char="•"/>
            </a:pPr>
            <a:r>
              <a:rPr lang="en-US" sz="2799">
                <a:solidFill>
                  <a:srgbClr val="000000"/>
                </a:solidFill>
                <a:latin typeface="ITC Avant Garde Gothic"/>
                <a:ea typeface="ITC Avant Garde Gothic"/>
                <a:cs typeface="ITC Avant Garde Gothic"/>
                <a:sym typeface="ITC Avant Garde Gothic"/>
              </a:rPr>
              <a:t>Report academic or personal issues</a:t>
            </a:r>
          </a:p>
          <a:p>
            <a:pPr algn="l" marL="604519" indent="-302260" lvl="1">
              <a:lnSpc>
                <a:spcPts val="3919"/>
              </a:lnSpc>
              <a:buFont typeface="Arial"/>
              <a:buChar char="•"/>
            </a:pPr>
            <a:r>
              <a:rPr lang="en-US" sz="2799">
                <a:solidFill>
                  <a:srgbClr val="000000"/>
                </a:solidFill>
                <a:latin typeface="ITC Avant Garde Gothic"/>
                <a:ea typeface="ITC Avant Garde Gothic"/>
                <a:cs typeface="ITC Avant Garde Gothic"/>
                <a:sym typeface="ITC Avant Garde Gothic"/>
              </a:rPr>
              <a:t>Track mentorship requests</a:t>
            </a:r>
          </a:p>
          <a:p>
            <a:pPr algn="l" marL="604519" indent="-302260" lvl="1">
              <a:lnSpc>
                <a:spcPts val="3919"/>
              </a:lnSpc>
              <a:buFont typeface="Arial"/>
              <a:buChar char="•"/>
            </a:pPr>
            <a:r>
              <a:rPr lang="en-US" sz="2799">
                <a:solidFill>
                  <a:srgbClr val="000000"/>
                </a:solidFill>
                <a:latin typeface="ITC Avant Garde Gothic"/>
                <a:ea typeface="ITC Avant Garde Gothic"/>
                <a:cs typeface="ITC Avant Garde Gothic"/>
                <a:sym typeface="ITC Avant Garde Gothic"/>
              </a:rPr>
              <a:t>Ensure follow-up and accountability</a:t>
            </a:r>
          </a:p>
          <a:p>
            <a:pPr algn="l">
              <a:lnSpc>
                <a:spcPts val="4059"/>
              </a:lnSpc>
            </a:pPr>
            <a:r>
              <a:rPr lang="en-US" sz="2899" b="true">
                <a:solidFill>
                  <a:srgbClr val="000000"/>
                </a:solidFill>
                <a:latin typeface="ITC Avant Garde Gothic Bold"/>
                <a:ea typeface="ITC Avant Garde Gothic Bold"/>
                <a:cs typeface="ITC Avant Garde Gothic Bold"/>
                <a:sym typeface="ITC Avant Garde Gothic Bold"/>
              </a:rPr>
              <a:t>Key Gaps Identified</a:t>
            </a:r>
          </a:p>
          <a:p>
            <a:pPr algn="l" marL="604519" indent="-302260" lvl="1">
              <a:lnSpc>
                <a:spcPts val="3919"/>
              </a:lnSpc>
              <a:buFont typeface="Arial"/>
              <a:buChar char="•"/>
            </a:pPr>
            <a:r>
              <a:rPr lang="en-US" sz="2799">
                <a:solidFill>
                  <a:srgbClr val="000000"/>
                </a:solidFill>
                <a:latin typeface="ITC Avant Garde Gothic"/>
                <a:ea typeface="ITC Avant Garde Gothic"/>
                <a:cs typeface="ITC Avant Garde Gothic"/>
                <a:sym typeface="ITC Avant Garde Gothic"/>
              </a:rPr>
              <a:t> No structured mentor discovery</a:t>
            </a:r>
          </a:p>
          <a:p>
            <a:pPr algn="l" marL="604519" indent="-302260" lvl="1">
              <a:lnSpc>
                <a:spcPts val="3919"/>
              </a:lnSpc>
              <a:buFont typeface="Arial"/>
              <a:buChar char="•"/>
            </a:pPr>
            <a:r>
              <a:rPr lang="en-US" sz="2799">
                <a:solidFill>
                  <a:srgbClr val="000000"/>
                </a:solidFill>
                <a:latin typeface="ITC Avant Garde Gothic"/>
                <a:ea typeface="ITC Avant Garde Gothic"/>
                <a:cs typeface="ITC Avant Garde Gothic"/>
                <a:sym typeface="ITC Avant Garde Gothic"/>
              </a:rPr>
              <a:t> Lack of transparency in mentor assignment</a:t>
            </a:r>
          </a:p>
          <a:p>
            <a:pPr algn="l" marL="604519" indent="-302260" lvl="1">
              <a:lnSpc>
                <a:spcPts val="3919"/>
              </a:lnSpc>
              <a:buFont typeface="Arial"/>
              <a:buChar char="•"/>
            </a:pPr>
            <a:r>
              <a:rPr lang="en-US" sz="2799">
                <a:solidFill>
                  <a:srgbClr val="000000"/>
                </a:solidFill>
                <a:latin typeface="ITC Avant Garde Gothic"/>
                <a:ea typeface="ITC Avant Garde Gothic"/>
                <a:cs typeface="ITC Avant Garde Gothic"/>
                <a:sym typeface="ITC Avant Garde Gothic"/>
              </a:rPr>
              <a:t> Poor scalability beyond small groups</a:t>
            </a:r>
          </a:p>
          <a:p>
            <a:pPr algn="l" marL="604519" indent="-302260" lvl="1">
              <a:lnSpc>
                <a:spcPts val="3919"/>
              </a:lnSpc>
              <a:buFont typeface="Arial"/>
              <a:buChar char="•"/>
            </a:pPr>
            <a:r>
              <a:rPr lang="en-US" sz="2799">
                <a:solidFill>
                  <a:srgbClr val="000000"/>
                </a:solidFill>
                <a:latin typeface="ITC Avant Garde Gothic"/>
                <a:ea typeface="ITC Avant Garde Gothic"/>
                <a:cs typeface="ITC Avant Garde Gothic"/>
                <a:sym typeface="ITC Avant Garde Gothic"/>
              </a:rPr>
              <a:t> Missed announcements and delayed communication</a:t>
            </a:r>
          </a:p>
          <a:p>
            <a:pPr algn="l">
              <a:lnSpc>
                <a:spcPts val="4059"/>
              </a:lnSpc>
            </a:pPr>
            <a:r>
              <a:rPr lang="en-US" sz="2899" b="true">
                <a:solidFill>
                  <a:srgbClr val="000000"/>
                </a:solidFill>
                <a:latin typeface="ITC Avant Garde Gothic Bold"/>
                <a:ea typeface="ITC Avant Garde Gothic Bold"/>
                <a:cs typeface="ITC Avant Garde Gothic Bold"/>
                <a:sym typeface="ITC Avant Garde Gothic Bold"/>
              </a:rPr>
              <a:t>Critical Need:</a:t>
            </a:r>
          </a:p>
          <a:p>
            <a:pPr algn="l" marL="604519" indent="-302260" lvl="1">
              <a:lnSpc>
                <a:spcPts val="3919"/>
              </a:lnSpc>
              <a:buFont typeface="Arial"/>
              <a:buChar char="•"/>
            </a:pPr>
            <a:r>
              <a:rPr lang="en-US" sz="2799">
                <a:solidFill>
                  <a:srgbClr val="000000"/>
                </a:solidFill>
                <a:latin typeface="ITC Avant Garde Gothic"/>
                <a:ea typeface="ITC Avant Garde Gothic"/>
                <a:cs typeface="ITC Avant Garde Gothic"/>
                <a:sym typeface="ITC Avant Garde Gothic"/>
              </a:rPr>
              <a:t> A digital, role-based platform that democratizes mentorship and enables direct, secure communication between students and teachers.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E6FF"/>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9050" y="8248650"/>
            <a:ext cx="2019300" cy="2019300"/>
          </a:xfrm>
          <a:custGeom>
            <a:avLst/>
            <a:gdLst/>
            <a:ahLst/>
            <a:cxnLst/>
            <a:rect r="r" b="b" t="t" l="l"/>
            <a:pathLst>
              <a:path h="2019300" w="2019300">
                <a:moveTo>
                  <a:pt x="2019300" y="0"/>
                </a:moveTo>
                <a:lnTo>
                  <a:pt x="0" y="0"/>
                </a:lnTo>
                <a:lnTo>
                  <a:pt x="0" y="2019300"/>
                </a:lnTo>
                <a:lnTo>
                  <a:pt x="2019300" y="2019300"/>
                </a:lnTo>
                <a:lnTo>
                  <a:pt x="20193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6249650" y="0"/>
            <a:ext cx="2019300" cy="2019300"/>
          </a:xfrm>
          <a:custGeom>
            <a:avLst/>
            <a:gdLst/>
            <a:ahLst/>
            <a:cxnLst/>
            <a:rect r="r" b="b" t="t" l="l"/>
            <a:pathLst>
              <a:path h="2019300" w="2019300">
                <a:moveTo>
                  <a:pt x="2019300" y="2019300"/>
                </a:moveTo>
                <a:lnTo>
                  <a:pt x="0" y="2019300"/>
                </a:lnTo>
                <a:lnTo>
                  <a:pt x="0" y="0"/>
                </a:lnTo>
                <a:lnTo>
                  <a:pt x="2019300" y="0"/>
                </a:lnTo>
                <a:lnTo>
                  <a:pt x="2019300" y="2019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7798" y="346413"/>
            <a:ext cx="2037880" cy="663237"/>
          </a:xfrm>
          <a:custGeom>
            <a:avLst/>
            <a:gdLst/>
            <a:ahLst/>
            <a:cxnLst/>
            <a:rect r="r" b="b" t="t" l="l"/>
            <a:pathLst>
              <a:path h="663237" w="2037880">
                <a:moveTo>
                  <a:pt x="0" y="0"/>
                </a:moveTo>
                <a:lnTo>
                  <a:pt x="2037880" y="0"/>
                </a:lnTo>
                <a:lnTo>
                  <a:pt x="2037880" y="663237"/>
                </a:lnTo>
                <a:lnTo>
                  <a:pt x="0" y="6632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744442" y="9144678"/>
            <a:ext cx="2543558" cy="827812"/>
          </a:xfrm>
          <a:custGeom>
            <a:avLst/>
            <a:gdLst/>
            <a:ahLst/>
            <a:cxnLst/>
            <a:rect r="r" b="b" t="t" l="l"/>
            <a:pathLst>
              <a:path h="827812" w="2543558">
                <a:moveTo>
                  <a:pt x="0" y="0"/>
                </a:moveTo>
                <a:lnTo>
                  <a:pt x="2543558" y="0"/>
                </a:lnTo>
                <a:lnTo>
                  <a:pt x="2543558" y="827812"/>
                </a:lnTo>
                <a:lnTo>
                  <a:pt x="0" y="827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672550" y="3068628"/>
            <a:ext cx="8914209" cy="5825403"/>
          </a:xfrm>
          <a:custGeom>
            <a:avLst/>
            <a:gdLst/>
            <a:ahLst/>
            <a:cxnLst/>
            <a:rect r="r" b="b" t="t" l="l"/>
            <a:pathLst>
              <a:path h="5825403" w="8914209">
                <a:moveTo>
                  <a:pt x="0" y="0"/>
                </a:moveTo>
                <a:lnTo>
                  <a:pt x="8914209" y="0"/>
                </a:lnTo>
                <a:lnTo>
                  <a:pt x="8914209" y="5825403"/>
                </a:lnTo>
                <a:lnTo>
                  <a:pt x="0" y="5825403"/>
                </a:lnTo>
                <a:lnTo>
                  <a:pt x="0" y="0"/>
                </a:lnTo>
                <a:close/>
              </a:path>
            </a:pathLst>
          </a:custGeom>
          <a:blipFill>
            <a:blip r:embed="rId6"/>
            <a:stretch>
              <a:fillRect l="0" t="-975" r="0" b="-975"/>
            </a:stretch>
          </a:blipFill>
        </p:spPr>
      </p:sp>
      <p:sp>
        <p:nvSpPr>
          <p:cNvPr name="TextBox 7" id="7"/>
          <p:cNvSpPr txBox="true"/>
          <p:nvPr/>
        </p:nvSpPr>
        <p:spPr>
          <a:xfrm rot="0">
            <a:off x="2371872" y="790575"/>
            <a:ext cx="13877778" cy="1152524"/>
          </a:xfrm>
          <a:prstGeom prst="rect">
            <a:avLst/>
          </a:prstGeom>
        </p:spPr>
        <p:txBody>
          <a:bodyPr anchor="t" rtlCol="false" tIns="0" lIns="0" bIns="0" rIns="0">
            <a:spAutoFit/>
          </a:bodyPr>
          <a:lstStyle/>
          <a:p>
            <a:pPr algn="ctr">
              <a:lnSpc>
                <a:spcPts val="8400"/>
              </a:lnSpc>
            </a:pPr>
            <a:r>
              <a:rPr lang="en-US" b="true" sz="6000">
                <a:solidFill>
                  <a:srgbClr val="000000"/>
                </a:solidFill>
                <a:latin typeface="ITC Avant Garde Gothic Bold"/>
                <a:ea typeface="ITC Avant Garde Gothic Bold"/>
                <a:cs typeface="ITC Avant Garde Gothic Bold"/>
                <a:sym typeface="ITC Avant Garde Gothic Bold"/>
              </a:rPr>
              <a:t>METHODOLOGY AND TECH STACK</a:t>
            </a:r>
          </a:p>
        </p:txBody>
      </p:sp>
      <p:sp>
        <p:nvSpPr>
          <p:cNvPr name="TextBox 8" id="8"/>
          <p:cNvSpPr txBox="true"/>
          <p:nvPr/>
        </p:nvSpPr>
        <p:spPr>
          <a:xfrm rot="0">
            <a:off x="1526431" y="2760831"/>
            <a:ext cx="6720666" cy="5033645"/>
          </a:xfrm>
          <a:prstGeom prst="rect">
            <a:avLst/>
          </a:prstGeom>
        </p:spPr>
        <p:txBody>
          <a:bodyPr anchor="t" rtlCol="false" tIns="0" lIns="0" bIns="0" rIns="0">
            <a:spAutoFit/>
          </a:bodyPr>
          <a:lstStyle/>
          <a:p>
            <a:pPr algn="l" marL="690881" indent="-345440" lvl="1">
              <a:lnSpc>
                <a:spcPts val="4480"/>
              </a:lnSpc>
              <a:buFont typeface="Arial"/>
              <a:buChar char="•"/>
            </a:pPr>
            <a:r>
              <a:rPr lang="en-US" sz="3200" strike="noStrike" u="none">
                <a:solidFill>
                  <a:srgbClr val="000000"/>
                </a:solidFill>
                <a:latin typeface="Canva Sans"/>
                <a:ea typeface="Canva Sans"/>
                <a:cs typeface="Canva Sans"/>
                <a:sym typeface="Canva Sans"/>
              </a:rPr>
              <a:t>Frontend with HTML5, Tailwind CSS, and JavaScript </a:t>
            </a:r>
          </a:p>
          <a:p>
            <a:pPr algn="l" marL="690881" indent="-345440" lvl="1">
              <a:lnSpc>
                <a:spcPts val="4480"/>
              </a:lnSpc>
              <a:buFont typeface="Arial"/>
              <a:buChar char="•"/>
            </a:pPr>
            <a:r>
              <a:rPr lang="en-US" sz="3200" strike="noStrike" u="none">
                <a:solidFill>
                  <a:srgbClr val="000000"/>
                </a:solidFill>
                <a:latin typeface="Canva Sans"/>
                <a:ea typeface="Canva Sans"/>
                <a:cs typeface="Canva Sans"/>
                <a:sym typeface="Canva Sans"/>
              </a:rPr>
              <a:t>UI and icon setup using Lucide Icons and Google Fonts</a:t>
            </a:r>
          </a:p>
          <a:p>
            <a:pPr algn="l" marL="690881" indent="-345440" lvl="1">
              <a:lnSpc>
                <a:spcPts val="4480"/>
              </a:lnSpc>
              <a:buFont typeface="Arial"/>
              <a:buChar char="•"/>
            </a:pPr>
            <a:r>
              <a:rPr lang="en-US" sz="3200" strike="noStrike" u="none">
                <a:solidFill>
                  <a:srgbClr val="000000"/>
                </a:solidFill>
                <a:latin typeface="Canva Sans"/>
                <a:ea typeface="Canva Sans"/>
                <a:cs typeface="Canva Sans"/>
                <a:sym typeface="Canva Sans"/>
              </a:rPr>
              <a:t>Backend powered by Firebase Firestore </a:t>
            </a:r>
          </a:p>
          <a:p>
            <a:pPr algn="l" marL="690881" indent="-345440" lvl="1">
              <a:lnSpc>
                <a:spcPts val="4480"/>
              </a:lnSpc>
              <a:buFont typeface="Arial"/>
              <a:buChar char="•"/>
            </a:pPr>
            <a:r>
              <a:rPr lang="en-US" sz="3200" strike="noStrike" u="none">
                <a:solidFill>
                  <a:srgbClr val="000000"/>
                </a:solidFill>
                <a:latin typeface="Canva Sans"/>
                <a:ea typeface="Canva Sans"/>
                <a:cs typeface="Canva Sans"/>
                <a:sym typeface="Canva Sans"/>
              </a:rPr>
              <a:t>email verification by phone.email  hosting on GitHub or Firebase.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E6FF"/>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9050" y="8248650"/>
            <a:ext cx="2019300" cy="2019300"/>
          </a:xfrm>
          <a:custGeom>
            <a:avLst/>
            <a:gdLst/>
            <a:ahLst/>
            <a:cxnLst/>
            <a:rect r="r" b="b" t="t" l="l"/>
            <a:pathLst>
              <a:path h="2019300" w="2019300">
                <a:moveTo>
                  <a:pt x="2019300" y="0"/>
                </a:moveTo>
                <a:lnTo>
                  <a:pt x="0" y="0"/>
                </a:lnTo>
                <a:lnTo>
                  <a:pt x="0" y="2019300"/>
                </a:lnTo>
                <a:lnTo>
                  <a:pt x="2019300" y="2019300"/>
                </a:lnTo>
                <a:lnTo>
                  <a:pt x="20193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6249650" y="0"/>
            <a:ext cx="2019300" cy="2019300"/>
          </a:xfrm>
          <a:custGeom>
            <a:avLst/>
            <a:gdLst/>
            <a:ahLst/>
            <a:cxnLst/>
            <a:rect r="r" b="b" t="t" l="l"/>
            <a:pathLst>
              <a:path h="2019300" w="2019300">
                <a:moveTo>
                  <a:pt x="2019300" y="2019300"/>
                </a:moveTo>
                <a:lnTo>
                  <a:pt x="0" y="2019300"/>
                </a:lnTo>
                <a:lnTo>
                  <a:pt x="0" y="0"/>
                </a:lnTo>
                <a:lnTo>
                  <a:pt x="2019300" y="0"/>
                </a:lnTo>
                <a:lnTo>
                  <a:pt x="2019300" y="2019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365463"/>
            <a:ext cx="2037880" cy="663237"/>
          </a:xfrm>
          <a:custGeom>
            <a:avLst/>
            <a:gdLst/>
            <a:ahLst/>
            <a:cxnLst/>
            <a:rect r="r" b="b" t="t" l="l"/>
            <a:pathLst>
              <a:path h="663237" w="2037880">
                <a:moveTo>
                  <a:pt x="0" y="0"/>
                </a:moveTo>
                <a:lnTo>
                  <a:pt x="2037880" y="0"/>
                </a:lnTo>
                <a:lnTo>
                  <a:pt x="2037880" y="663237"/>
                </a:lnTo>
                <a:lnTo>
                  <a:pt x="0" y="6632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744442" y="9128005"/>
            <a:ext cx="2543558" cy="827812"/>
          </a:xfrm>
          <a:custGeom>
            <a:avLst/>
            <a:gdLst/>
            <a:ahLst/>
            <a:cxnLst/>
            <a:rect r="r" b="b" t="t" l="l"/>
            <a:pathLst>
              <a:path h="827812" w="2543558">
                <a:moveTo>
                  <a:pt x="0" y="0"/>
                </a:moveTo>
                <a:lnTo>
                  <a:pt x="2543558" y="0"/>
                </a:lnTo>
                <a:lnTo>
                  <a:pt x="2543558" y="827812"/>
                </a:lnTo>
                <a:lnTo>
                  <a:pt x="0" y="827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291996" y="1212951"/>
            <a:ext cx="11704008" cy="1244600"/>
          </a:xfrm>
          <a:prstGeom prst="rect">
            <a:avLst/>
          </a:prstGeom>
        </p:spPr>
        <p:txBody>
          <a:bodyPr anchor="t" rtlCol="false" tIns="0" lIns="0" bIns="0" rIns="0">
            <a:spAutoFit/>
          </a:bodyPr>
          <a:lstStyle/>
          <a:p>
            <a:pPr algn="ctr">
              <a:lnSpc>
                <a:spcPts val="9100"/>
              </a:lnSpc>
            </a:pPr>
            <a:r>
              <a:rPr lang="en-US" b="true" sz="6500">
                <a:solidFill>
                  <a:srgbClr val="000000"/>
                </a:solidFill>
                <a:latin typeface="ITC Avant Garde Gothic Bold"/>
                <a:ea typeface="ITC Avant Garde Gothic Bold"/>
                <a:cs typeface="ITC Avant Garde Gothic Bold"/>
                <a:sym typeface="ITC Avant Garde Gothic Bold"/>
              </a:rPr>
              <a:t>GA</a:t>
            </a:r>
            <a:r>
              <a:rPr lang="en-US" b="true" sz="6500">
                <a:solidFill>
                  <a:srgbClr val="000000"/>
                </a:solidFill>
                <a:latin typeface="ITC Avant Garde Gothic Bold"/>
                <a:ea typeface="ITC Avant Garde Gothic Bold"/>
                <a:cs typeface="ITC Avant Garde Gothic Bold"/>
                <a:sym typeface="ITC Avant Garde Gothic Bold"/>
              </a:rPr>
              <a:t>PS &amp; LIMITATIONS</a:t>
            </a:r>
          </a:p>
        </p:txBody>
      </p:sp>
      <p:sp>
        <p:nvSpPr>
          <p:cNvPr name="TextBox 7" id="7"/>
          <p:cNvSpPr txBox="true"/>
          <p:nvPr/>
        </p:nvSpPr>
        <p:spPr>
          <a:xfrm rot="0">
            <a:off x="1530323" y="2919700"/>
            <a:ext cx="15485898" cy="5818933"/>
          </a:xfrm>
          <a:prstGeom prst="rect">
            <a:avLst/>
          </a:prstGeom>
        </p:spPr>
        <p:txBody>
          <a:bodyPr anchor="t" rtlCol="false" tIns="0" lIns="0" bIns="0" rIns="0">
            <a:spAutoFit/>
          </a:bodyPr>
          <a:lstStyle/>
          <a:p>
            <a:pPr algn="just">
              <a:lnSpc>
                <a:spcPts val="3825"/>
              </a:lnSpc>
            </a:pPr>
            <a:r>
              <a:rPr lang="en-US" sz="2732" b="true">
                <a:solidFill>
                  <a:srgbClr val="000000"/>
                </a:solidFill>
                <a:latin typeface="ITC Avant Garde Gothic Bold"/>
                <a:ea typeface="ITC Avant Garde Gothic Bold"/>
                <a:cs typeface="ITC Avant Garde Gothic Bold"/>
                <a:sym typeface="ITC Avant Garde Gothic Bold"/>
              </a:rPr>
              <a:t>Identifi</a:t>
            </a:r>
            <a:r>
              <a:rPr lang="en-US" sz="2732" b="true">
                <a:solidFill>
                  <a:srgbClr val="000000"/>
                </a:solidFill>
                <a:latin typeface="ITC Avant Garde Gothic Bold"/>
                <a:ea typeface="ITC Avant Garde Gothic Bold"/>
                <a:cs typeface="ITC Avant Garde Gothic Bold"/>
                <a:sym typeface="ITC Avant Garde Gothic Bold"/>
              </a:rPr>
              <a:t>ed Gaps</a:t>
            </a:r>
          </a:p>
          <a:p>
            <a:pPr algn="just" marL="589923" indent="-294962" lvl="1">
              <a:lnSpc>
                <a:spcPts val="3825"/>
              </a:lnSpc>
              <a:buFont typeface="Arial"/>
              <a:buChar char="•"/>
            </a:pPr>
            <a:r>
              <a:rPr lang="en-US" sz="2732">
                <a:solidFill>
                  <a:srgbClr val="000000"/>
                </a:solidFill>
                <a:latin typeface="ITC Avant Garde Gothic"/>
                <a:ea typeface="ITC Avant Garde Gothic"/>
                <a:cs typeface="ITC Avant Garde Gothic"/>
                <a:sym typeface="ITC Avant Garde Gothic"/>
              </a:rPr>
              <a:t>No centralized platform for student–teacher communication</a:t>
            </a:r>
          </a:p>
          <a:p>
            <a:pPr algn="just" marL="589923" indent="-294962" lvl="1">
              <a:lnSpc>
                <a:spcPts val="3825"/>
              </a:lnSpc>
              <a:buFont typeface="Arial"/>
              <a:buChar char="•"/>
            </a:pPr>
            <a:r>
              <a:rPr lang="en-US" sz="2732">
                <a:solidFill>
                  <a:srgbClr val="000000"/>
                </a:solidFill>
                <a:latin typeface="ITC Avant Garde Gothic"/>
                <a:ea typeface="ITC Avant Garde Gothic"/>
                <a:cs typeface="ITC Avant Garde Gothic"/>
                <a:sym typeface="ITC Avant Garde Gothic"/>
              </a:rPr>
              <a:t>Mentorship depends on informal personal networks</a:t>
            </a:r>
          </a:p>
          <a:p>
            <a:pPr algn="just" marL="589923" indent="-294962" lvl="1">
              <a:lnSpc>
                <a:spcPts val="3825"/>
              </a:lnSpc>
              <a:buFont typeface="Arial"/>
              <a:buChar char="•"/>
            </a:pPr>
            <a:r>
              <a:rPr lang="en-US" sz="2732">
                <a:solidFill>
                  <a:srgbClr val="000000"/>
                </a:solidFill>
                <a:latin typeface="ITC Avant Garde Gothic"/>
                <a:ea typeface="ITC Avant Garde Gothic"/>
                <a:cs typeface="ITC Avant Garde Gothic"/>
                <a:sym typeface="ITC Avant Garde Gothic"/>
              </a:rPr>
              <a:t>Students lack visibility into available mentors and expertise</a:t>
            </a:r>
          </a:p>
          <a:p>
            <a:pPr algn="just" marL="589923" indent="-294962" lvl="1">
              <a:lnSpc>
                <a:spcPts val="3825"/>
              </a:lnSpc>
              <a:buFont typeface="Arial"/>
              <a:buChar char="•"/>
            </a:pPr>
            <a:r>
              <a:rPr lang="en-US" sz="2732">
                <a:solidFill>
                  <a:srgbClr val="000000"/>
                </a:solidFill>
                <a:latin typeface="ITC Avant Garde Gothic"/>
                <a:ea typeface="ITC Avant Garde Gothic"/>
                <a:cs typeface="ITC Avant Garde Gothic"/>
                <a:sym typeface="ITC Avant Garde Gothic"/>
              </a:rPr>
              <a:t>No structured way to report academic or personal problems</a:t>
            </a:r>
          </a:p>
          <a:p>
            <a:pPr algn="just" marL="589923" indent="-294962" lvl="1">
              <a:lnSpc>
                <a:spcPts val="3825"/>
              </a:lnSpc>
              <a:buFont typeface="Arial"/>
              <a:buChar char="•"/>
            </a:pPr>
            <a:r>
              <a:rPr lang="en-US" sz="2732">
                <a:solidFill>
                  <a:srgbClr val="000000"/>
                </a:solidFill>
                <a:latin typeface="ITC Avant Garde Gothic"/>
                <a:ea typeface="ITC Avant Garde Gothic"/>
                <a:cs typeface="ITC Avant Garde Gothic"/>
                <a:sym typeface="ITC Avant Garde Gothic"/>
              </a:rPr>
              <a:t>Absence of real-time status tracking for requests</a:t>
            </a:r>
          </a:p>
          <a:p>
            <a:pPr algn="just">
              <a:lnSpc>
                <a:spcPts val="3825"/>
              </a:lnSpc>
            </a:pPr>
            <a:r>
              <a:rPr lang="en-US" sz="2732" b="true">
                <a:solidFill>
                  <a:srgbClr val="000000"/>
                </a:solidFill>
                <a:latin typeface="ITC Avant Garde Gothic Bold"/>
                <a:ea typeface="ITC Avant Garde Gothic Bold"/>
                <a:cs typeface="ITC Avant Garde Gothic Bold"/>
                <a:sym typeface="ITC Avant Garde Gothic Bold"/>
              </a:rPr>
              <a:t>Key Limitations</a:t>
            </a:r>
          </a:p>
          <a:p>
            <a:pPr algn="just" marL="589923" indent="-294962" lvl="1">
              <a:lnSpc>
                <a:spcPts val="3825"/>
              </a:lnSpc>
              <a:buFont typeface="Arial"/>
              <a:buChar char="•"/>
            </a:pPr>
            <a:r>
              <a:rPr lang="en-US" sz="2732">
                <a:solidFill>
                  <a:srgbClr val="000000"/>
                </a:solidFill>
                <a:latin typeface="ITC Avant Garde Gothic"/>
                <a:ea typeface="ITC Avant Garde Gothic"/>
                <a:cs typeface="ITC Avant Garde Gothic"/>
                <a:sym typeface="ITC Avant Garde Gothic"/>
              </a:rPr>
              <a:t>Limited accessibility for students outside strong networks</a:t>
            </a:r>
          </a:p>
          <a:p>
            <a:pPr algn="just" marL="589923" indent="-294962" lvl="1">
              <a:lnSpc>
                <a:spcPts val="3825"/>
              </a:lnSpc>
              <a:buFont typeface="Arial"/>
              <a:buChar char="•"/>
            </a:pPr>
            <a:r>
              <a:rPr lang="en-US" sz="2732">
                <a:solidFill>
                  <a:srgbClr val="000000"/>
                </a:solidFill>
                <a:latin typeface="ITC Avant Garde Gothic"/>
                <a:ea typeface="ITC Avant Garde Gothic"/>
                <a:cs typeface="ITC Avant Garde Gothic"/>
                <a:sym typeface="ITC Avant Garde Gothic"/>
              </a:rPr>
              <a:t>Poor transparency in mentor allocation and response process</a:t>
            </a:r>
          </a:p>
          <a:p>
            <a:pPr algn="just" marL="589923" indent="-294962" lvl="1">
              <a:lnSpc>
                <a:spcPts val="3825"/>
              </a:lnSpc>
              <a:buFont typeface="Arial"/>
              <a:buChar char="•"/>
            </a:pPr>
            <a:r>
              <a:rPr lang="en-US" sz="2732">
                <a:solidFill>
                  <a:srgbClr val="000000"/>
                </a:solidFill>
                <a:latin typeface="ITC Avant Garde Gothic"/>
                <a:ea typeface="ITC Avant Garde Gothic"/>
                <a:cs typeface="ITC Avant Garde Gothic"/>
                <a:sym typeface="ITC Avant Garde Gothic"/>
              </a:rPr>
              <a:t>Lack of accountability and follow-up mechanisms</a:t>
            </a:r>
          </a:p>
          <a:p>
            <a:pPr algn="just" marL="589923" indent="-294962" lvl="1">
              <a:lnSpc>
                <a:spcPts val="3825"/>
              </a:lnSpc>
              <a:buFont typeface="Arial"/>
              <a:buChar char="•"/>
            </a:pPr>
            <a:r>
              <a:rPr lang="en-US" sz="2732">
                <a:solidFill>
                  <a:srgbClr val="000000"/>
                </a:solidFill>
                <a:latin typeface="ITC Avant Garde Gothic"/>
                <a:ea typeface="ITC Avant Garde Gothic"/>
                <a:cs typeface="ITC Avant Garde Gothic"/>
                <a:sym typeface="ITC Avant Garde Gothic"/>
              </a:rPr>
              <a:t>Announcements and guidance often missed or delayed</a:t>
            </a:r>
          </a:p>
          <a:p>
            <a:pPr algn="just" marL="589923" indent="-294962" lvl="1">
              <a:lnSpc>
                <a:spcPts val="3825"/>
              </a:lnSpc>
              <a:buFont typeface="Arial"/>
              <a:buChar char="•"/>
            </a:pPr>
            <a:r>
              <a:rPr lang="en-US" sz="2732">
                <a:solidFill>
                  <a:srgbClr val="000000"/>
                </a:solidFill>
                <a:latin typeface="ITC Avant Garde Gothic"/>
                <a:ea typeface="ITC Avant Garde Gothic"/>
                <a:cs typeface="ITC Avant Garde Gothic"/>
                <a:sym typeface="ITC Avant Garde Gothic"/>
              </a:rPr>
              <a:t>System not scalable for large universities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E6FF"/>
        </a:solidFill>
      </p:bgPr>
    </p:bg>
    <p:spTree>
      <p:nvGrpSpPr>
        <p:cNvPr id="1" name=""/>
        <p:cNvGrpSpPr/>
        <p:nvPr/>
      </p:nvGrpSpPr>
      <p:grpSpPr>
        <a:xfrm>
          <a:off x="0" y="0"/>
          <a:ext cx="0" cy="0"/>
          <a:chOff x="0" y="0"/>
          <a:chExt cx="0" cy="0"/>
        </a:xfrm>
      </p:grpSpPr>
      <p:sp>
        <p:nvSpPr>
          <p:cNvPr name="Freeform 2" id="2"/>
          <p:cNvSpPr/>
          <p:nvPr/>
        </p:nvSpPr>
        <p:spPr>
          <a:xfrm flipH="true" flipV="false" rot="5400000">
            <a:off x="19050" y="8248650"/>
            <a:ext cx="2019300" cy="2019300"/>
          </a:xfrm>
          <a:custGeom>
            <a:avLst/>
            <a:gdLst/>
            <a:ahLst/>
            <a:cxnLst/>
            <a:rect r="r" b="b" t="t" l="l"/>
            <a:pathLst>
              <a:path h="2019300" w="2019300">
                <a:moveTo>
                  <a:pt x="2019300" y="0"/>
                </a:moveTo>
                <a:lnTo>
                  <a:pt x="0" y="0"/>
                </a:lnTo>
                <a:lnTo>
                  <a:pt x="0" y="2019300"/>
                </a:lnTo>
                <a:lnTo>
                  <a:pt x="2019300" y="2019300"/>
                </a:lnTo>
                <a:lnTo>
                  <a:pt x="20193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6249650" y="0"/>
            <a:ext cx="2019300" cy="2019300"/>
          </a:xfrm>
          <a:custGeom>
            <a:avLst/>
            <a:gdLst/>
            <a:ahLst/>
            <a:cxnLst/>
            <a:rect r="r" b="b" t="t" l="l"/>
            <a:pathLst>
              <a:path h="2019300" w="2019300">
                <a:moveTo>
                  <a:pt x="2019300" y="2019300"/>
                </a:moveTo>
                <a:lnTo>
                  <a:pt x="0" y="2019300"/>
                </a:lnTo>
                <a:lnTo>
                  <a:pt x="0" y="0"/>
                </a:lnTo>
                <a:lnTo>
                  <a:pt x="2019300" y="0"/>
                </a:lnTo>
                <a:lnTo>
                  <a:pt x="2019300" y="2019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9050" y="346413"/>
            <a:ext cx="2037880" cy="663237"/>
          </a:xfrm>
          <a:custGeom>
            <a:avLst/>
            <a:gdLst/>
            <a:ahLst/>
            <a:cxnLst/>
            <a:rect r="r" b="b" t="t" l="l"/>
            <a:pathLst>
              <a:path h="663237" w="2037880">
                <a:moveTo>
                  <a:pt x="0" y="0"/>
                </a:moveTo>
                <a:lnTo>
                  <a:pt x="2037880" y="0"/>
                </a:lnTo>
                <a:lnTo>
                  <a:pt x="2037880" y="663237"/>
                </a:lnTo>
                <a:lnTo>
                  <a:pt x="0" y="6632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744442" y="9258300"/>
            <a:ext cx="2543558" cy="827812"/>
          </a:xfrm>
          <a:custGeom>
            <a:avLst/>
            <a:gdLst/>
            <a:ahLst/>
            <a:cxnLst/>
            <a:rect r="r" b="b" t="t" l="l"/>
            <a:pathLst>
              <a:path h="827812" w="2543558">
                <a:moveTo>
                  <a:pt x="0" y="0"/>
                </a:moveTo>
                <a:lnTo>
                  <a:pt x="2543558" y="0"/>
                </a:lnTo>
                <a:lnTo>
                  <a:pt x="2543558" y="827812"/>
                </a:lnTo>
                <a:lnTo>
                  <a:pt x="0" y="8278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216368" y="294887"/>
            <a:ext cx="13855265" cy="1915794"/>
          </a:xfrm>
          <a:prstGeom prst="rect">
            <a:avLst/>
          </a:prstGeom>
        </p:spPr>
        <p:txBody>
          <a:bodyPr anchor="t" rtlCol="false" tIns="0" lIns="0" bIns="0" rIns="0">
            <a:spAutoFit/>
          </a:bodyPr>
          <a:lstStyle/>
          <a:p>
            <a:pPr algn="ctr">
              <a:lnSpc>
                <a:spcPts val="7280"/>
              </a:lnSpc>
            </a:pPr>
            <a:r>
              <a:rPr lang="en-US" b="true" sz="5200">
                <a:solidFill>
                  <a:srgbClr val="000000"/>
                </a:solidFill>
                <a:latin typeface="ITC Avant Garde Gothic Bold"/>
                <a:ea typeface="ITC Avant Garde Gothic Bold"/>
                <a:cs typeface="ITC Avant Garde Gothic Bold"/>
                <a:sym typeface="ITC Avant Garde Gothic Bold"/>
              </a:rPr>
              <a:t>CONCLUSION FINAL PROPOSED SOLUTION</a:t>
            </a:r>
          </a:p>
        </p:txBody>
      </p:sp>
      <p:sp>
        <p:nvSpPr>
          <p:cNvPr name="TextBox 7" id="7"/>
          <p:cNvSpPr txBox="true"/>
          <p:nvPr/>
        </p:nvSpPr>
        <p:spPr>
          <a:xfrm rot="0">
            <a:off x="9717551" y="3763256"/>
            <a:ext cx="7298670" cy="4961088"/>
          </a:xfrm>
          <a:prstGeom prst="rect">
            <a:avLst/>
          </a:prstGeom>
        </p:spPr>
        <p:txBody>
          <a:bodyPr anchor="t" rtlCol="false" tIns="0" lIns="0" bIns="0" rIns="0">
            <a:spAutoFit/>
          </a:bodyPr>
          <a:lstStyle/>
          <a:p>
            <a:pPr algn="ctr">
              <a:lnSpc>
                <a:spcPts val="4006"/>
              </a:lnSpc>
            </a:pPr>
            <a:r>
              <a:rPr lang="en-US" sz="2862" b="true">
                <a:solidFill>
                  <a:srgbClr val="000000"/>
                </a:solidFill>
                <a:latin typeface="ITC Avant Garde Gothic Bold"/>
                <a:ea typeface="ITC Avant Garde Gothic Bold"/>
                <a:cs typeface="ITC Avant Garde Gothic Bold"/>
                <a:sym typeface="ITC Avant Garde Gothic Bold"/>
              </a:rPr>
              <a:t>For Students (Mentees):</a:t>
            </a:r>
          </a:p>
          <a:p>
            <a:pPr algn="ctr" marL="617917" indent="-308959" lvl="1">
              <a:lnSpc>
                <a:spcPts val="4006"/>
              </a:lnSpc>
              <a:buFont typeface="Arial"/>
              <a:buChar char="•"/>
            </a:pPr>
            <a:r>
              <a:rPr lang="en-US" sz="2862">
                <a:solidFill>
                  <a:srgbClr val="000000"/>
                </a:solidFill>
                <a:latin typeface="ITC Avant Garde Gothic"/>
                <a:ea typeface="ITC Avant Garde Gothic"/>
                <a:cs typeface="ITC Avant Garde Gothic"/>
                <a:sym typeface="ITC Avant Garde Gothic"/>
              </a:rPr>
              <a:t>Profile creation with academic goals</a:t>
            </a:r>
          </a:p>
          <a:p>
            <a:pPr algn="ctr" marL="617917" indent="-308959" lvl="1">
              <a:lnSpc>
                <a:spcPts val="4006"/>
              </a:lnSpc>
              <a:buFont typeface="Arial"/>
              <a:buChar char="•"/>
            </a:pPr>
            <a:r>
              <a:rPr lang="en-US" sz="2862">
                <a:solidFill>
                  <a:srgbClr val="000000"/>
                </a:solidFill>
                <a:latin typeface="ITC Avant Garde Gothic"/>
                <a:ea typeface="ITC Avant Garde Gothic"/>
                <a:cs typeface="ITC Avant Garde Gothic"/>
                <a:sym typeface="ITC Avant Garde Gothic"/>
              </a:rPr>
              <a:t>Discover mentors by expertise &amp; availability</a:t>
            </a:r>
          </a:p>
          <a:p>
            <a:pPr algn="ctr" marL="617917" indent="-308959" lvl="1">
              <a:lnSpc>
                <a:spcPts val="4006"/>
              </a:lnSpc>
              <a:buFont typeface="Arial"/>
              <a:buChar char="•"/>
            </a:pPr>
            <a:r>
              <a:rPr lang="en-US" sz="2862">
                <a:solidFill>
                  <a:srgbClr val="000000"/>
                </a:solidFill>
                <a:latin typeface="ITC Avant Garde Gothic"/>
                <a:ea typeface="ITC Avant Garde Gothic"/>
                <a:cs typeface="ITC Avant Garde Gothic"/>
                <a:sym typeface="ITC Avant Garde Gothic"/>
              </a:rPr>
              <a:t>Submit structured mentorship requests</a:t>
            </a:r>
          </a:p>
          <a:p>
            <a:pPr algn="ctr" marL="617917" indent="-308959" lvl="1">
              <a:lnSpc>
                <a:spcPts val="4006"/>
              </a:lnSpc>
              <a:buFont typeface="Arial"/>
              <a:buChar char="•"/>
            </a:pPr>
            <a:r>
              <a:rPr lang="en-US" sz="2862">
                <a:solidFill>
                  <a:srgbClr val="000000"/>
                </a:solidFill>
                <a:latin typeface="ITC Avant Garde Gothic"/>
                <a:ea typeface="ITC Avant Garde Gothic"/>
                <a:cs typeface="ITC Avant Garde Gothic"/>
                <a:sym typeface="ITC Avant Garde Gothic"/>
              </a:rPr>
              <a:t>Track request status (Pending / Accepted / Rejected)</a:t>
            </a:r>
          </a:p>
          <a:p>
            <a:pPr algn="ctr" marL="617917" indent="-308959" lvl="1">
              <a:lnSpc>
                <a:spcPts val="4006"/>
              </a:lnSpc>
              <a:buFont typeface="Arial"/>
              <a:buChar char="•"/>
            </a:pPr>
            <a:r>
              <a:rPr lang="en-US" sz="2862">
                <a:solidFill>
                  <a:srgbClr val="000000"/>
                </a:solidFill>
                <a:latin typeface="ITC Avant Garde Gothic"/>
                <a:ea typeface="ITC Avant Garde Gothic"/>
                <a:cs typeface="ITC Avant Garde Gothic"/>
                <a:sym typeface="ITC Avant Garde Gothic"/>
              </a:rPr>
              <a:t>Receive faculty announcements and resources</a:t>
            </a:r>
          </a:p>
          <a:p>
            <a:pPr algn="just">
              <a:lnSpc>
                <a:spcPts val="3205"/>
              </a:lnSpc>
            </a:pPr>
          </a:p>
        </p:txBody>
      </p:sp>
      <p:sp>
        <p:nvSpPr>
          <p:cNvPr name="TextBox 8" id="8"/>
          <p:cNvSpPr txBox="true"/>
          <p:nvPr/>
        </p:nvSpPr>
        <p:spPr>
          <a:xfrm rot="0">
            <a:off x="2216368" y="3763256"/>
            <a:ext cx="7501183" cy="4548178"/>
          </a:xfrm>
          <a:prstGeom prst="rect">
            <a:avLst/>
          </a:prstGeom>
        </p:spPr>
        <p:txBody>
          <a:bodyPr anchor="t" rtlCol="false" tIns="0" lIns="0" bIns="0" rIns="0">
            <a:spAutoFit/>
          </a:bodyPr>
          <a:lstStyle/>
          <a:p>
            <a:pPr algn="ctr">
              <a:lnSpc>
                <a:spcPts val="4088"/>
              </a:lnSpc>
            </a:pPr>
            <a:r>
              <a:rPr lang="en-US" sz="2920" b="true">
                <a:solidFill>
                  <a:srgbClr val="000000"/>
                </a:solidFill>
                <a:latin typeface="ITC Avant Garde Gothic Bold"/>
                <a:ea typeface="ITC Avant Garde Gothic Bold"/>
                <a:cs typeface="ITC Avant Garde Gothic Bold"/>
                <a:sym typeface="ITC Avant Garde Gothic Bold"/>
              </a:rPr>
              <a:t>F</a:t>
            </a:r>
            <a:r>
              <a:rPr lang="en-US" b="true" sz="2920">
                <a:solidFill>
                  <a:srgbClr val="000000"/>
                </a:solidFill>
                <a:latin typeface="ITC Avant Garde Gothic Bold"/>
                <a:ea typeface="ITC Avant Garde Gothic Bold"/>
                <a:cs typeface="ITC Avant Garde Gothic Bold"/>
                <a:sym typeface="ITC Avant Garde Gothic Bold"/>
              </a:rPr>
              <a:t>or Mentors (Faculty / Alumni):</a:t>
            </a:r>
          </a:p>
          <a:p>
            <a:pPr algn="ctr" marL="630478" indent="-315239" lvl="1">
              <a:lnSpc>
                <a:spcPts val="4088"/>
              </a:lnSpc>
              <a:buFont typeface="Arial"/>
              <a:buChar char="•"/>
            </a:pPr>
            <a:r>
              <a:rPr lang="en-US" sz="2920">
                <a:solidFill>
                  <a:srgbClr val="000000"/>
                </a:solidFill>
                <a:latin typeface="ITC Avant Garde Gothic"/>
                <a:ea typeface="ITC Avant Garde Gothic"/>
                <a:cs typeface="ITC Avant Garde Gothic"/>
                <a:sym typeface="ITC Avant Garde Gothic"/>
              </a:rPr>
              <a:t>Manage assigned mentees via dashboard</a:t>
            </a:r>
          </a:p>
          <a:p>
            <a:pPr algn="ctr" marL="630478" indent="-315239" lvl="1">
              <a:lnSpc>
                <a:spcPts val="4088"/>
              </a:lnSpc>
              <a:buFont typeface="Arial"/>
              <a:buChar char="•"/>
            </a:pPr>
            <a:r>
              <a:rPr lang="en-US" sz="2920">
                <a:solidFill>
                  <a:srgbClr val="000000"/>
                </a:solidFill>
                <a:latin typeface="ITC Avant Garde Gothic"/>
                <a:ea typeface="ITC Avant Garde Gothic"/>
                <a:cs typeface="ITC Avant Garde Gothic"/>
                <a:sym typeface="ITC Avant Garde Gothic"/>
              </a:rPr>
              <a:t>Review and respond to mentorship requests</a:t>
            </a:r>
          </a:p>
          <a:p>
            <a:pPr algn="ctr" marL="630478" indent="-315239" lvl="1">
              <a:lnSpc>
                <a:spcPts val="4088"/>
              </a:lnSpc>
              <a:buFont typeface="Arial"/>
              <a:buChar char="•"/>
            </a:pPr>
            <a:r>
              <a:rPr lang="en-US" sz="2920">
                <a:solidFill>
                  <a:srgbClr val="000000"/>
                </a:solidFill>
                <a:latin typeface="ITC Avant Garde Gothic"/>
                <a:ea typeface="ITC Avant Garde Gothic"/>
                <a:cs typeface="ITC Avant Garde Gothic"/>
                <a:sym typeface="ITC Avant Garde Gothic"/>
              </a:rPr>
              <a:t>Broadcast official academic updates</a:t>
            </a:r>
          </a:p>
          <a:p>
            <a:pPr algn="ctr" marL="630478" indent="-315239" lvl="1">
              <a:lnSpc>
                <a:spcPts val="4088"/>
              </a:lnSpc>
              <a:buFont typeface="Arial"/>
              <a:buChar char="•"/>
            </a:pPr>
            <a:r>
              <a:rPr lang="en-US" sz="2920">
                <a:solidFill>
                  <a:srgbClr val="000000"/>
                </a:solidFill>
                <a:latin typeface="ITC Avant Garde Gothic"/>
                <a:ea typeface="ITC Avant Garde Gothic"/>
                <a:cs typeface="ITC Avant Garde Gothic"/>
                <a:sym typeface="ITC Avant Garde Gothic"/>
              </a:rPr>
              <a:t>Track mentee progress and pending actions</a:t>
            </a:r>
          </a:p>
          <a:p>
            <a:pPr algn="ctr">
              <a:lnSpc>
                <a:spcPts val="3270"/>
              </a:lnSpc>
            </a:pPr>
          </a:p>
        </p:txBody>
      </p:sp>
      <p:sp>
        <p:nvSpPr>
          <p:cNvPr name="TextBox 9" id="9"/>
          <p:cNvSpPr txBox="true"/>
          <p:nvPr/>
        </p:nvSpPr>
        <p:spPr>
          <a:xfrm rot="0">
            <a:off x="2056930" y="2131307"/>
            <a:ext cx="14959291" cy="2114550"/>
          </a:xfrm>
          <a:prstGeom prst="rect">
            <a:avLst/>
          </a:prstGeom>
        </p:spPr>
        <p:txBody>
          <a:bodyPr anchor="t" rtlCol="false" tIns="0" lIns="0" bIns="0" rIns="0">
            <a:spAutoFit/>
          </a:bodyPr>
          <a:lstStyle/>
          <a:p>
            <a:pPr algn="ctr">
              <a:lnSpc>
                <a:spcPts val="4200"/>
              </a:lnSpc>
            </a:pPr>
            <a:r>
              <a:rPr lang="en-US" sz="3000">
                <a:solidFill>
                  <a:srgbClr val="000000"/>
                </a:solidFill>
                <a:latin typeface="Canva Sans"/>
                <a:ea typeface="Canva Sans"/>
                <a:cs typeface="Canva Sans"/>
                <a:sym typeface="Canva Sans"/>
              </a:rPr>
              <a:t>A centralized Mentor–Mentee Connection Platform with structured workflows for discovery, communication, and mentorship management.</a:t>
            </a:r>
          </a:p>
          <a:p>
            <a:pPr algn="ctr">
              <a:lnSpc>
                <a:spcPts val="4200"/>
              </a:lnSpc>
            </a:pPr>
            <a:r>
              <a:rPr lang="en-US" sz="3000">
                <a:solidFill>
                  <a:srgbClr val="000000"/>
                </a:solidFill>
                <a:latin typeface="Canva Sans"/>
                <a:ea typeface="Canva Sans"/>
                <a:cs typeface="Canva Sans"/>
                <a:sym typeface="Canva Sans"/>
              </a:rPr>
              <a:t>Key Features</a:t>
            </a:r>
          </a:p>
          <a:p>
            <a:pPr algn="ctr">
              <a:lnSpc>
                <a:spcPts val="4200"/>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DAHAPsSCOgE</dc:identifier>
  <dcterms:modified xsi:type="dcterms:W3CDTF">2011-08-01T06:04:30Z</dcterms:modified>
  <cp:revision>1</cp:revision>
  <dc:title>Problem Statement &amp; Need Why This Platform Is Needed Students lack timely, relevant guidance Mentorship depends on informal personal networks No structured mentor discovery mechanism No transparency, tracking, or accountability Access limited to small</dc:title>
</cp:coreProperties>
</file>